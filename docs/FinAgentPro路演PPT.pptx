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37160" cy="4114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FinAgent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Microsoft YaHei"/>
              </a:defRPr>
            </a:pPr>
            <a:r>
              <a:t>金融自主智能体平台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5204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基于大语言模型与多智能体协同技术，推动金融服务从被动响应迈向主动智能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846320"/>
            <a:ext cx="502920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892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🏆  AFAC2026 金融智能创新大赛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1371600"/>
            <a:ext cx="2743200" cy="2743200"/>
          </a:xfrm>
          <a:prstGeom prst="ellipse">
            <a:avLst/>
          </a:prstGeom>
          <a:noFill/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0" y="182880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253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行业痛点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金融行业面临的核心挑战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0116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8288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分析师过劳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日均覆盖3-5只标的</a:t>
            </a:r>
            <a:br/>
            <a:r>
              <a:t>研报撰写4-6小时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20116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46304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8288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风控滞后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80%风控事件事后发现</a:t>
            </a:r>
            <a:br/>
            <a:r>
              <a:t>无法实时预警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0116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6304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18288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信息孤岛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行情/新闻/公告</a:t>
            </a:r>
            <a:br/>
            <a:r>
              <a:t>分散10+系统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463040"/>
            <a:ext cx="20116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146304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09560" y="18288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被动响应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现有AI需人工提问</a:t>
            </a:r>
            <a:br/>
            <a:r>
              <a:t>才工作，无法主动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1463040"/>
            <a:ext cx="20116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146304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9840" y="182880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 Emoji"/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合规压力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监管要求日趋严格</a:t>
            </a:r>
            <a:br/>
            <a:r>
              <a:t>合规成本持续攀升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6大数字员工，覆盖金融全链路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4864" cy="2103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市场分析智能体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技术指标 + 基本面</a:t>
            </a:r>
            <a:br/>
            <a:r>
              <a:t>+ 资金流向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63040"/>
            <a:ext cx="34747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463040"/>
            <a:ext cx="54864" cy="2103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00600" y="17830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新闻舆情智能体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中文新闻 + 社交情绪</a:t>
            </a:r>
            <a:br/>
            <a:r>
              <a:t>+ 事件提取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63040"/>
            <a:ext cx="34747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46304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17830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风控合规智能体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多维风控</a:t>
            </a:r>
            <a:br/>
            <a:r>
              <a:t>+ 合规规则引擎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34747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41605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投资策略智能体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资产配置 + 组合构建</a:t>
            </a:r>
            <a:br/>
            <a:r>
              <a:t>+ 策略回测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840480"/>
            <a:ext cx="34747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3840480"/>
            <a:ext cx="54864" cy="21031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00600" y="4160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报告生成智能体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研报/晨报/风控周报</a:t>
            </a:r>
            <a:br/>
            <a:r>
              <a:t>/事件快报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840480"/>
            <a:ext cx="34747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840480"/>
            <a:ext cx="54864" cy="21031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4160520"/>
            <a:ext cx="640080" cy="6400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执行监控智能体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6634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定时巡检 + 实时监控</a:t>
            </a:r>
            <a:br/>
            <a:r>
              <a:t>+ 主动预警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6大差异化技术壁垒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ReAct推理引擎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031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思考→行动→观察循环</a:t>
            </a:r>
            <a:br/>
            <a:r>
              <a:t>自主决策，非简单问答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持久记忆系统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1031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工作记忆+情节记忆</a:t>
            </a:r>
            <a:br/>
            <a:r>
              <a:t>+语义记忆三层架构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37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主动智能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947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定时巡检+事件驱动</a:t>
            </a:r>
            <a:br/>
            <a:r>
              <a:t>+阈值预警三重触发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34747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37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合规内嵌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7947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监管规则引擎</a:t>
            </a:r>
            <a:br/>
            <a:r>
              <a:t>+审计日志全程可追溯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54864" cy="14630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16636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029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多智能体协商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4864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加权协商+LLM增强</a:t>
            </a:r>
            <a:br/>
            <a:r>
              <a:t>推理，避免单一偏见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84632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846320"/>
            <a:ext cx="54864" cy="14630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5166360"/>
            <a:ext cx="640080" cy="6400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 Emoji"/>
              </a:defRPr>
            </a:pPr>
            <a:r>
              <a:t>👁️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029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思维链可视化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4864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AI决策过程实时可见</a:t>
            </a:r>
            <a:br/>
            <a:r>
              <a:t>可审计可解释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六层分层架构，高内聚低耦合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371600"/>
            <a:ext cx="91440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1371600"/>
            <a:ext cx="73152" cy="777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🖥️  交互层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417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Vue3 + TailwindCSS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45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258568"/>
            <a:ext cx="91440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2258568"/>
            <a:ext cx="73152" cy="7772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30428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Microsoft YaHei"/>
              </a:defRPr>
            </a:pPr>
            <a:r>
              <a:t>🔌  API网关层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04288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FastAPI + 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9900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45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145536"/>
            <a:ext cx="91440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0" y="3145536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3191256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🤖  智能体层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91256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6大智能体 +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770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45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4032504"/>
            <a:ext cx="91440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4032504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07822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⚙️  推理框架层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78224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ReAct + Tool +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7640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45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4919472"/>
            <a:ext cx="91440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63040" y="4919472"/>
            <a:ext cx="73152" cy="777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965192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Microsoft YaHei"/>
              </a:defRPr>
            </a:pPr>
            <a:r>
              <a:t>🔧  基础服务层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965192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GLM-5.1/DeepSeek/SenseNova + AKShare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650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45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63040" y="5806440"/>
            <a:ext cx="91440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63040" y="5806440"/>
            <a:ext cx="73152" cy="7772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5852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Microsoft YaHei"/>
              </a:defRPr>
            </a:pPr>
            <a:r>
              <a:t>🏗️  基础设施层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852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Docker + PostgreSQL + Redis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13716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用户</a:t>
            </a:r>
            <a:br/>
            <a:r>
              <a:t>接入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0292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  <a:latin typeface="Microsoft YaHei"/>
              </a:defRPr>
            </a:pPr>
            <a:r>
              <a:t>基础</a:t>
            </a:r>
            <a:br/>
            <a:r>
              <a:t>设施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3大核心场景展示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73152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场景1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晨间巡检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数字员工8:30自动扫描</a:t>
            </a:r>
            <a:br/>
            <a:r>
              <a:t>生成晨报推送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00400"/>
            <a:ext cx="2926080" cy="18288"/>
          </a:xfrm>
          <a:prstGeom prst="rect">
            <a:avLst/>
          </a:prstGeom>
          <a:solidFill>
            <a:srgbClr val="2D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38328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8:30 定时触发巡检任务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93192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市场数据+新闻+公告聚合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48056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AI分析生成晨报摘要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02920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自动推送至工作群/邮箱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371600"/>
            <a:ext cx="347472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280" y="1600200"/>
            <a:ext cx="731520" cy="3200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场景2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突发预警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持仓股利空</a:t>
            </a:r>
            <a:br/>
            <a:r>
              <a:t>6智能体协同，2分钟出建议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200400"/>
            <a:ext cx="2926080" cy="18288"/>
          </a:xfrm>
          <a:prstGeom prst="rect">
            <a:avLst/>
          </a:prstGeom>
          <a:solidFill>
            <a:srgbClr val="2D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17720" y="338328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实时监控触发预警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93192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6智能体并行分析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48056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加权协商生成建议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502920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2分钟内推送操作建议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137160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5320" y="1600200"/>
            <a:ext cx="73152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场景3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对话分析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自然语言提问</a:t>
            </a:r>
            <a:br/>
            <a:r>
              <a:t>思维链实时可视化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3200400"/>
            <a:ext cx="2926080" cy="18288"/>
          </a:xfrm>
          <a:prstGeom prst="rect">
            <a:avLst/>
          </a:prstGeom>
          <a:solidFill>
            <a:srgbClr val="2D3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66760" y="33832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自然语言交互</a:t>
            </a:r>
          </a:p>
        </p:txBody>
      </p:sp>
      <p:sp>
        <p:nvSpPr>
          <p:cNvPr id="45" name="Oval 44"/>
          <p:cNvSpPr/>
          <p:nvPr/>
        </p:nvSpPr>
        <p:spPr>
          <a:xfrm>
            <a:off x="8366760" y="39319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931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ReAct推理过程可视化</a:t>
            </a:r>
          </a:p>
        </p:txBody>
      </p:sp>
      <p:sp>
        <p:nvSpPr>
          <p:cNvPr id="47" name="Oval 46"/>
          <p:cNvSpPr/>
          <p:nvPr/>
        </p:nvSpPr>
        <p:spPr>
          <a:xfrm>
            <a:off x="8366760" y="448056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工具调用实时展示</a:t>
            </a:r>
          </a:p>
        </p:txBody>
      </p:sp>
      <p:sp>
        <p:nvSpPr>
          <p:cNvPr id="49" name="Oval 48"/>
          <p:cNvSpPr/>
          <p:nvPr/>
        </p:nvSpPr>
        <p:spPr>
          <a:xfrm>
            <a:off x="8366760" y="50292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029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结论可追溯可审计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市场规模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千亿级金融科技AI市场，高速增长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1280160"/>
            <a:ext cx="5120640" cy="5120640"/>
          </a:xfrm>
          <a:prstGeom prst="ellipse">
            <a:avLst/>
          </a:prstGeom>
          <a:solidFill>
            <a:srgbClr val="1A2744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80" y="2194560"/>
            <a:ext cx="3291840" cy="3291840"/>
          </a:xfrm>
          <a:prstGeom prst="ellipse">
            <a:avLst/>
          </a:prstGeom>
          <a:solidFill>
            <a:srgbClr val="1E3050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91840" y="3017520"/>
            <a:ext cx="1645920" cy="1645920"/>
          </a:xfrm>
          <a:prstGeom prst="ellipse">
            <a:avLst/>
          </a:prstGeom>
          <a:solidFill>
            <a:srgbClr val="223A5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500亿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中国金融科技AI市场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Microsoft YaHei"/>
              </a:defRPr>
            </a:pPr>
            <a:r>
              <a:t>50亿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金融AI Agent细分市场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57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5亿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77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可触达市场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828800"/>
            <a:ext cx="3657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年复合增长率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  <a:latin typeface="Microsoft YaHei"/>
              </a:defRPr>
            </a:pPr>
            <a:r>
              <a:t>35%+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91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金融AI市场持续高速增长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0"/>
            <a:ext cx="3657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📊 市场驱动因素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120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• 大模型技术突破</a:t>
            </a:r>
            <a:br/>
            <a:r>
              <a:t>• 金融数字化转型加速</a:t>
            </a:r>
            <a:br/>
            <a:r>
              <a:t>• 监管科技需求增长</a:t>
            </a:r>
            <a:br/>
            <a:r>
              <a:t>• AI Agent范式变革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SaaS三层定价 + 3年营收预测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918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个人版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Microsoft YaHei"/>
              </a:defRPr>
            </a:pPr>
            <a:r>
              <a:t>¥99/月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基础分析 + 对话交互</a:t>
            </a:r>
            <a:br/>
            <a:r>
              <a:t>每日晨报推送</a:t>
            </a:r>
            <a:br/>
            <a:r>
              <a:t>3只标的跟踪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2918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7160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机构版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¥5-50万/年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26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全功能 + 定制智能体</a:t>
            </a:r>
            <a:br/>
            <a:r>
              <a:t>6大数字员工</a:t>
            </a:r>
            <a:br/>
            <a:r>
              <a:t>优先技术支持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29184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企业版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77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¥100万+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926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私有化部署</a:t>
            </a:r>
            <a:br/>
            <a:r>
              <a:t>数据安全隔离</a:t>
            </a:r>
            <a:br/>
            <a:r>
              <a:t>专属定制开发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📈 3年营收预测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60720"/>
            <a:ext cx="292608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263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Year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1,200万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394960"/>
            <a:ext cx="2926080" cy="8229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6263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Year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074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5,800万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4846320"/>
            <a:ext cx="2926080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6263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Year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526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1.8亿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4572000"/>
            <a:ext cx="3840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754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🚀 增长引擎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• 个人版：用户量驱动，CAC &lt; ¥200</a:t>
            </a:r>
            <a:br/>
            <a:r>
              <a:t>• 机构版：ARPU ¥15万，高续费率</a:t>
            </a:r>
            <a:br/>
            <a:r>
              <a:t>• 企业版：大客户标杆，LTV &gt; ¥500万</a:t>
            </a:r>
            <a:br/>
            <a:r>
              <a:t>• 3年CAGR &gt; 280%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竞争优势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三大维度差异化竞争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0515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54864" cy="1463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vs 传统金融终端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Wind / 同花顺</a:t>
            </a:r>
          </a:p>
        </p:txBody>
      </p:sp>
      <p:sp>
        <p:nvSpPr>
          <p:cNvPr id="10" name="Oval 9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Microsoft YaHei"/>
              </a:defRPr>
            </a:pPr>
            <a:r>
              <a:t>✅ FinAgent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AI自主推理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从被动查数据到AI主动推送</a:t>
            </a:r>
            <a:br/>
            <a:r>
              <a:t>智能分析替代人工操作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❌ 竞品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人工查询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10515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06324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vs 通用AI助手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ChatGPT / 文心一言</a:t>
            </a:r>
          </a:p>
        </p:txBody>
      </p:sp>
      <p:sp>
        <p:nvSpPr>
          <p:cNvPr id="20" name="Oval 19"/>
          <p:cNvSpPr/>
          <p:nvPr/>
        </p:nvSpPr>
        <p:spPr>
          <a:xfrm>
            <a:off x="3566160" y="3429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Microsoft YaHei"/>
              </a:defRPr>
            </a:pPr>
            <a:r>
              <a:t>✅ FinAgent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金融专业+合规内嵌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金融领域深度定制</a:t>
            </a:r>
            <a:br/>
            <a:r>
              <a:t>合规规则引擎全程保障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154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❌ 竞品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通用对话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54880"/>
            <a:ext cx="10515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75488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vs 单点工具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单一分析软件</a:t>
            </a:r>
          </a:p>
        </p:txBody>
      </p:sp>
      <p:sp>
        <p:nvSpPr>
          <p:cNvPr id="30" name="Oval 29"/>
          <p:cNvSpPr/>
          <p:nvPr/>
        </p:nvSpPr>
        <p:spPr>
          <a:xfrm>
            <a:off x="3566160" y="51206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846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✅ FinAgent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6智能体协同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532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全链路覆盖从分析到报告</a:t>
            </a:r>
            <a:br/>
            <a:r>
              <a:t>多智能体协商避免偏见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Microsoft YaHei"/>
              </a:defRPr>
            </a:pPr>
            <a:r>
              <a:t>❌ 竞品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单一功能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5486400"/>
            <a:ext cx="7589520" cy="914400"/>
          </a:xfrm>
          <a:prstGeom prst="roundRect">
            <a:avLst/>
          </a:prstGeom>
          <a:solidFill>
            <a:srgbClr val="142236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557784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💡 核心壁垒：AI自主推理 × 金融专业深度 × 合规内嵌 × 多智能体协同 —— 四位一体，难以复制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团队与规划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一人团队 · 全栈智能 · 以一当十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200400" cy="4206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🛡️ 团队名称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微软雅黑"/>
              </a:defRPr>
            </a:pPr>
            <a:r>
              <a:t>智融先锋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274320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👤 创始人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冯亦根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🎓 浙江大学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计算机通信工程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274320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⚡ 团队模式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OPC 一人团队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全栈能力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架构 · 开发 · AI · 产品 · 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🚀 发展路线图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148840"/>
            <a:ext cx="38404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0560" y="2011680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微软雅黑"/>
              </a:defRPr>
            </a:pPr>
            <a:r>
              <a:t>M1-3</a:t>
            </a:r>
          </a:p>
        </p:txBody>
      </p:sp>
      <p:sp>
        <p:nvSpPr>
          <p:cNvPr id="25" name="Oval 24"/>
          <p:cNvSpPr/>
          <p:nvPr/>
        </p:nvSpPr>
        <p:spPr>
          <a:xfrm>
            <a:off x="5852160" y="2011680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微软雅黑"/>
              </a:defRPr>
            </a:pPr>
            <a:r>
              <a:t>M4-6</a:t>
            </a:r>
          </a:p>
        </p:txBody>
      </p:sp>
      <p:sp>
        <p:nvSpPr>
          <p:cNvPr id="27" name="Oval 26"/>
          <p:cNvSpPr/>
          <p:nvPr/>
        </p:nvSpPr>
        <p:spPr>
          <a:xfrm>
            <a:off x="7223760" y="2011680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微软雅黑"/>
              </a:defRPr>
            </a:pPr>
            <a:r>
              <a:t>M7-12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2468880"/>
            <a:ext cx="1325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31920" y="2468880"/>
            <a:ext cx="1325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MVP上线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2971800"/>
            <a:ext cx="960120" cy="27432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2971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微软雅黑"/>
              </a:defRPr>
            </a:pPr>
            <a:r>
              <a:t>种子用户1000+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核心智能体开发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611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MVP版本上线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种子用户获取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4069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产品验证迭代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40680" y="2468880"/>
            <a:ext cx="1325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40680" y="2468880"/>
            <a:ext cx="1325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机构版发布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2971800"/>
            <a:ext cx="960120" cy="27432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2971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微软雅黑"/>
              </a:defRPr>
            </a:pPr>
            <a:r>
              <a:t>10-20家付费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机构版功能完善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3611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合规模块上线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机构客户拓展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4069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品牌影响力建立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2468880"/>
            <a:ext cx="1325880" cy="30175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49440" y="2468880"/>
            <a:ext cx="13258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企业版发布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32320" y="2971800"/>
            <a:ext cx="960120" cy="27432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29718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微软雅黑"/>
              </a:defRPr>
            </a:pPr>
            <a:r>
              <a:t>3-5家大客户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3383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企业版私有部署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3611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大客户签约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3840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营收突破5000万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4069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• 行业标杆打造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💰 融资需求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201168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03920" y="2011680"/>
            <a:ext cx="2926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天使轮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500万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2926080"/>
            <a:ext cx="256032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30175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MVP开发 + 种子用户获取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核心智能体研发投入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3474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产品验证与快速迭代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03920" y="402336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03920" y="4023360"/>
            <a:ext cx="29260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Pre-A轮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2000万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4937760"/>
            <a:ext cx="2560320" cy="1371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0" y="5029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机构版开发 + 市场拓展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合规体系建设投入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5486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团队扩展与品牌建设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一个人，一支队，以一当十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