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37160" cy="41148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FinAgent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B82F6"/>
                </a:solidFill>
                <a:latin typeface="Microsoft YaHei"/>
              </a:defRPr>
            </a:pPr>
            <a:r>
              <a:t>金融自主智能体平台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520440"/>
            <a:ext cx="2743200" cy="3657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icrosoft YaHei"/>
              </a:defRPr>
            </a:pPr>
            <a:r>
              <a:t>基于大语言模型与多智能体协同技术，推动金融服务从被动响应迈向主动智能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846320"/>
            <a:ext cx="502920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8920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🏆  AFAC2026 金融智能创新大赛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0" y="1371600"/>
            <a:ext cx="2743200" cy="2743200"/>
          </a:xfrm>
          <a:prstGeom prst="ellipse">
            <a:avLst/>
          </a:prstGeom>
          <a:noFill/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828800"/>
            <a:ext cx="1828800" cy="182880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253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3B82F6"/>
                </a:solidFill>
              </a:defRPr>
            </a:pPr>
            <a:r>
              <a:t>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行业痛点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金融行业面临的核心挑战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01168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0116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731520" cy="7315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分析师过劳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日均覆盖3-5只标的</a:t>
            </a:r>
            <a:br/>
            <a:r>
              <a:t>研报撰写4-6小时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463040"/>
            <a:ext cx="201168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1463040"/>
            <a:ext cx="20116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828800"/>
            <a:ext cx="731520" cy="7315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 Emoji"/>
              </a:defRPr>
            </a:pPr>
            <a:r>
              <a:t>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风控滞后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918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80%风控事件事后发现</a:t>
            </a:r>
            <a:br/>
            <a:r>
              <a:t>无法实时预警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463040"/>
            <a:ext cx="201168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463040"/>
            <a:ext cx="20116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69280" y="1828800"/>
            <a:ext cx="731520" cy="7315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 Emoji"/>
              </a:defRPr>
            </a:pPr>
            <a: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信息孤岛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2918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行情/新闻/公告</a:t>
            </a:r>
            <a:br/>
            <a:r>
              <a:t>分散10+系统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463040"/>
            <a:ext cx="201168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1463040"/>
            <a:ext cx="20116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09560" y="1828800"/>
            <a:ext cx="731520" cy="7315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 Emoji"/>
              </a:defRPr>
            </a:pPr>
            <a:r>
              <a:t>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被动响应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2918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现有AI需人工提问</a:t>
            </a:r>
            <a:br/>
            <a:r>
              <a:t>才工作，无法主动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60" y="1463040"/>
            <a:ext cx="201168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09760" y="1463040"/>
            <a:ext cx="20116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49840" y="1828800"/>
            <a:ext cx="731520" cy="7315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 Emoji"/>
              </a:defRPr>
            </a:pPr>
            <a:r>
              <a:t>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合规压力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32918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监管要求日趋严格</a:t>
            </a:r>
            <a:br/>
            <a:r>
              <a:t>合规成本持续攀升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产品方案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6大数字员工，覆盖金融全链路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4864" cy="21031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178308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市场分析智能体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技术指标 + 基本面</a:t>
            </a:r>
            <a:br/>
            <a:r>
              <a:t>+ 资金流向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463040"/>
            <a:ext cx="347472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463040"/>
            <a:ext cx="54864" cy="2103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00600" y="178308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新闻舆情智能体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22860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中文新闻 + 社交情绪</a:t>
            </a:r>
            <a:br/>
            <a:r>
              <a:t>+ 事件提取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463040"/>
            <a:ext cx="347472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463040"/>
            <a:ext cx="54864" cy="2103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0" y="178308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风控合规智能体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2860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多维风控</a:t>
            </a:r>
            <a:br/>
            <a:r>
              <a:t>+ 合规规则引擎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40480"/>
            <a:ext cx="347472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840480"/>
            <a:ext cx="54864" cy="2103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41605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160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投资策略智能体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6634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资产配置 + 组合构建</a:t>
            </a:r>
            <a:br/>
            <a:r>
              <a:t>+ 策略回测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840480"/>
            <a:ext cx="347472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26280" y="3840480"/>
            <a:ext cx="54864" cy="21031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00600" y="416052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160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报告生成智能体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23560" y="46634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研报/晨报/风控周报</a:t>
            </a:r>
            <a:br/>
            <a:r>
              <a:t>/事件快报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840480"/>
            <a:ext cx="347472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3840480"/>
            <a:ext cx="54864" cy="21031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95360" y="4160520"/>
            <a:ext cx="640080" cy="6400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160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执行监控智能体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6634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定时巡检 + 实时监控</a:t>
            </a:r>
            <a:br/>
            <a:r>
              <a:t>+ 主动预警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6大差异化技术壁垒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0352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4864" cy="14630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459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ReAct推理引擎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031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思考→行动→观察循环</a:t>
            </a:r>
            <a:br/>
            <a:r>
              <a:t>自主决策，非简单问答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30352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4864" cy="14630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178308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16459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持久记忆系统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1031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工作记忆+情节记忆</a:t>
            </a:r>
            <a:br/>
            <a:r>
              <a:t>+语义记忆三层架构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54680"/>
            <a:ext cx="530352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154680"/>
            <a:ext cx="54864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4747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375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主动智能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9476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定时巡检+事件驱动</a:t>
            </a:r>
            <a:br/>
            <a:r>
              <a:t>+阈值预警三重触发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154680"/>
            <a:ext cx="530352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154680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3474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⚖️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3375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合规内嵌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79476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监管规则引擎</a:t>
            </a:r>
            <a:br/>
            <a:r>
              <a:t>+审计日志全程可追溯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46320"/>
            <a:ext cx="530352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846320"/>
            <a:ext cx="54864" cy="14630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516636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0292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多智能体协商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48640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加权协商+LLM增强</a:t>
            </a:r>
            <a:br/>
            <a:r>
              <a:t>推理，避免单一偏见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846320"/>
            <a:ext cx="530352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846320"/>
            <a:ext cx="54864" cy="14630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6520" y="5166360"/>
            <a:ext cx="640080" cy="6400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 Emoji"/>
              </a:defRPr>
            </a:pPr>
            <a:r>
              <a:t>👁️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50292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思维链可视化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548640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AI决策过程实时可见</a:t>
            </a:r>
            <a:br/>
            <a:r>
              <a:t>可审计可解释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六层分层架构，高内聚低耦合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371600"/>
            <a:ext cx="914400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1371600"/>
            <a:ext cx="73152" cy="7772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417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Microsoft YaHei"/>
              </a:defRPr>
            </a:pPr>
            <a:r>
              <a:t>🖥️  交互层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417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Vue3 + TailwindCSS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103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45C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258568"/>
            <a:ext cx="914400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3040" y="2258568"/>
            <a:ext cx="73152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2304288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Microsoft YaHei"/>
              </a:defRPr>
            </a:pPr>
            <a:r>
              <a:t>🔌  API网关层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304288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FastAPI + WebSocket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9900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45C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3145536"/>
            <a:ext cx="914400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63040" y="3145536"/>
            <a:ext cx="73152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3191256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Microsoft YaHei"/>
              </a:defRPr>
            </a:pPr>
            <a:r>
              <a:t>🤖  智能体层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191256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6大智能体 + Orchestrator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7705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45C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3040" y="4032504"/>
            <a:ext cx="914400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63040" y="4032504"/>
            <a:ext cx="73152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4078224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Microsoft YaHei"/>
              </a:defRPr>
            </a:pPr>
            <a:r>
              <a:t>⚙️  推理框架层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078224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ReAct + Tool +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76402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45C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63040" y="4919472"/>
            <a:ext cx="914400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63040" y="4919472"/>
            <a:ext cx="73152" cy="7772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4965192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Microsoft YaHei"/>
              </a:defRPr>
            </a:pPr>
            <a:r>
              <a:t>🔧  基础服务层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965192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GLM-5.1/DeepSeek/SenseNova + AKShare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6509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45C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5806440"/>
            <a:ext cx="914400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463040" y="5806440"/>
            <a:ext cx="73152" cy="7772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37360" y="5852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472B6"/>
                </a:solidFill>
                <a:latin typeface="Microsoft YaHei"/>
              </a:defRPr>
            </a:pPr>
            <a:r>
              <a:t>🏗️  基础设施层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Docker + PostgreSQL + Redis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137160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B82F6"/>
                </a:solidFill>
                <a:latin typeface="Microsoft YaHei"/>
              </a:defRPr>
            </a:pPr>
            <a:r>
              <a:t>用户</a:t>
            </a:r>
            <a:br/>
            <a:r>
              <a:t>接入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502920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472B6"/>
                </a:solidFill>
                <a:latin typeface="Microsoft YaHei"/>
              </a:defRPr>
            </a:pPr>
            <a:r>
              <a:t>基础</a:t>
            </a:r>
            <a:br/>
            <a:r>
              <a:t>设施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产品演示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3大核心场景展示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7160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731520" cy="32004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场景1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晨间巡检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数字员工8:30自动扫描</a:t>
            </a:r>
            <a:br/>
            <a:r>
              <a:t>生成晨报推送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200400"/>
            <a:ext cx="2926080" cy="18288"/>
          </a:xfrm>
          <a:prstGeom prst="rect">
            <a:avLst/>
          </a:prstGeom>
          <a:solidFill>
            <a:srgbClr val="2D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383280"/>
            <a:ext cx="274320" cy="2743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83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8:30 定时触发巡检任务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931920"/>
            <a:ext cx="274320" cy="2743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市场数据+新闻+公告聚合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80560"/>
            <a:ext cx="274320" cy="2743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80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AI分析生成晨报摘要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29200"/>
            <a:ext cx="274320" cy="2743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自动推送至工作群/邮箱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37160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1371600"/>
            <a:ext cx="347472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26280" y="1600200"/>
            <a:ext cx="731520" cy="32004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场景2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突发预警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4688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持仓股利空</a:t>
            </a:r>
            <a:br/>
            <a:r>
              <a:t>6智能体协同，2分钟出建议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17720" y="3200400"/>
            <a:ext cx="2926080" cy="18288"/>
          </a:xfrm>
          <a:prstGeom prst="rect">
            <a:avLst/>
          </a:prstGeom>
          <a:solidFill>
            <a:srgbClr val="2D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17720" y="338328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383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实时监控触发预警</a:t>
            </a:r>
          </a:p>
        </p:txBody>
      </p:sp>
      <p:sp>
        <p:nvSpPr>
          <p:cNvPr id="30" name="Oval 29"/>
          <p:cNvSpPr/>
          <p:nvPr/>
        </p:nvSpPr>
        <p:spPr>
          <a:xfrm>
            <a:off x="4617720" y="393192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6智能体并行分析</a:t>
            </a:r>
          </a:p>
        </p:txBody>
      </p:sp>
      <p:sp>
        <p:nvSpPr>
          <p:cNvPr id="32" name="Oval 31"/>
          <p:cNvSpPr/>
          <p:nvPr/>
        </p:nvSpPr>
        <p:spPr>
          <a:xfrm>
            <a:off x="4617720" y="448056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480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加权协商生成建议</a:t>
            </a:r>
          </a:p>
        </p:txBody>
      </p:sp>
      <p:sp>
        <p:nvSpPr>
          <p:cNvPr id="34" name="Oval 33"/>
          <p:cNvSpPr/>
          <p:nvPr/>
        </p:nvSpPr>
        <p:spPr>
          <a:xfrm>
            <a:off x="4617720" y="502920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2分钟内推送操作建议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137160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92440" y="137160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75320" y="1600200"/>
            <a:ext cx="731520" cy="3200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场景3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对话分析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24688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自然语言提问</a:t>
            </a:r>
            <a:br/>
            <a:r>
              <a:t>思维链实时可视化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3200400"/>
            <a:ext cx="2926080" cy="18288"/>
          </a:xfrm>
          <a:prstGeom prst="rect">
            <a:avLst/>
          </a:prstGeom>
          <a:solidFill>
            <a:srgbClr val="2D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66760" y="338328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3383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自然语言交互</a:t>
            </a:r>
          </a:p>
        </p:txBody>
      </p:sp>
      <p:sp>
        <p:nvSpPr>
          <p:cNvPr id="45" name="Oval 44"/>
          <p:cNvSpPr/>
          <p:nvPr/>
        </p:nvSpPr>
        <p:spPr>
          <a:xfrm>
            <a:off x="8366760" y="393192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ReAct推理过程可视化</a:t>
            </a:r>
          </a:p>
        </p:txBody>
      </p:sp>
      <p:sp>
        <p:nvSpPr>
          <p:cNvPr id="47" name="Oval 46"/>
          <p:cNvSpPr/>
          <p:nvPr/>
        </p:nvSpPr>
        <p:spPr>
          <a:xfrm>
            <a:off x="8366760" y="448056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480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工具调用实时展示</a:t>
            </a:r>
          </a:p>
        </p:txBody>
      </p:sp>
      <p:sp>
        <p:nvSpPr>
          <p:cNvPr id="49" name="Oval 48"/>
          <p:cNvSpPr/>
          <p:nvPr/>
        </p:nvSpPr>
        <p:spPr>
          <a:xfrm>
            <a:off x="8366760" y="502920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结论可追溯可审计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市场规模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千亿级金融科技AI市场，高速增长</a:t>
            </a:r>
          </a:p>
        </p:txBody>
      </p:sp>
      <p:sp>
        <p:nvSpPr>
          <p:cNvPr id="6" name="Oval 5"/>
          <p:cNvSpPr/>
          <p:nvPr/>
        </p:nvSpPr>
        <p:spPr>
          <a:xfrm>
            <a:off x="1554480" y="1280160"/>
            <a:ext cx="5120640" cy="5120640"/>
          </a:xfrm>
          <a:prstGeom prst="ellipse">
            <a:avLst/>
          </a:prstGeom>
          <a:solidFill>
            <a:srgbClr val="1A2744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68880" y="2194560"/>
            <a:ext cx="3291840" cy="3291840"/>
          </a:xfrm>
          <a:prstGeom prst="ellipse">
            <a:avLst/>
          </a:prstGeom>
          <a:solidFill>
            <a:srgbClr val="1E3050"/>
          </a:solidFill>
          <a:ln w="2540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91840" y="3017520"/>
            <a:ext cx="1645920" cy="1645920"/>
          </a:xfrm>
          <a:prstGeom prst="ellipse">
            <a:avLst/>
          </a:prstGeom>
          <a:solidFill>
            <a:srgbClr val="223A5C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Microsoft YaHei"/>
              </a:defRPr>
            </a:pPr>
            <a:r>
              <a:t>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691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Microsoft YaHei"/>
              </a:defRPr>
            </a:pPr>
            <a:r>
              <a:t>500亿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57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中国金融科技AI市场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Microsoft YaHei"/>
              </a:defRPr>
            </a:pPr>
            <a:r>
              <a:t>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Microsoft YaHei"/>
              </a:defRPr>
            </a:pPr>
            <a:r>
              <a:t>50亿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金融AI Agent细分市场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3832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657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5亿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977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可触达市场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828800"/>
            <a:ext cx="3657600" cy="2286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年复合增长率 CAGR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81"/>
                </a:solidFill>
                <a:latin typeface="Microsoft YaHei"/>
              </a:defRPr>
            </a:pPr>
            <a:r>
              <a:t>35%+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291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金融AI市场持续高速增长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572000"/>
            <a:ext cx="365760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754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Microsoft YaHei"/>
              </a:defRPr>
            </a:pPr>
            <a:r>
              <a:t>📊 市场驱动因素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1206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大模型技术突破</a:t>
            </a:r>
            <a:br/>
            <a:r>
              <a:t>• 金融数字化转型加速</a:t>
            </a:r>
            <a:br/>
            <a:r>
              <a:t>• 监管科技需求增长</a:t>
            </a:r>
            <a:br/>
            <a:r>
              <a:t>• AI Agent范式变革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SaaS三层定价 + 3年营收预测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291840" cy="2926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291840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个人版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82F6"/>
                </a:solidFill>
                <a:latin typeface="Microsoft YaHei"/>
              </a:defRPr>
            </a:pPr>
            <a:r>
              <a:t>¥99/月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基础分析 + 对话交互</a:t>
            </a:r>
            <a:br/>
            <a:r>
              <a:t>每日晨报推送</a:t>
            </a:r>
            <a:br/>
            <a:r>
              <a:t>3只标的跟踪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371600"/>
            <a:ext cx="3291840" cy="2926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71600"/>
            <a:ext cx="32918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011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机构版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377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¥5-50万/年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92608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全功能 + 定制智能体</a:t>
            </a:r>
            <a:br/>
            <a:r>
              <a:t>6大数字员工</a:t>
            </a:r>
            <a:br/>
            <a:r>
              <a:t>优先技术支持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1371600"/>
            <a:ext cx="3291840" cy="2926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1371600"/>
            <a:ext cx="329184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🏛️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11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企业版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377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  <a:latin typeface="Microsoft YaHei"/>
              </a:defRPr>
            </a:pPr>
            <a:r>
              <a:t>¥100万+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92608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私有化部署</a:t>
            </a:r>
            <a:br/>
            <a:r>
              <a:t>数据安全隔离</a:t>
            </a:r>
            <a:br/>
            <a:r>
              <a:t>专属定制开发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572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📈 3年营收预测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760720"/>
            <a:ext cx="2926080" cy="4572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263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4406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Microsoft YaHei"/>
              </a:defRPr>
            </a:pPr>
            <a:r>
              <a:t>1,200万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394960"/>
            <a:ext cx="2926080" cy="8229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0" y="6263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Year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5074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  <a:latin typeface="Microsoft YaHei"/>
              </a:defRPr>
            </a:pPr>
            <a:r>
              <a:t>5,800万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4846320"/>
            <a:ext cx="2926080" cy="1371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6263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Year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526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1.8亿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0" y="4572000"/>
            <a:ext cx="384048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4754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🚀 增长引擎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512064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个人版：用户量驱动，CAC &lt; ¥200</a:t>
            </a:r>
            <a:br/>
            <a:r>
              <a:t>• 机构版：ARPU ¥15万，高续费率</a:t>
            </a:r>
            <a:br/>
            <a:r>
              <a:t>• 企业版：大客户标杆，LTV &gt; ¥500万</a:t>
            </a:r>
            <a:br/>
            <a:r>
              <a:t>• 3年CAGR &gt; 280%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竞争优势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三大维度差异化竞争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10515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54864" cy="14630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vs 传统金融终端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74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Wind / 同花顺</a:t>
            </a:r>
          </a:p>
        </p:txBody>
      </p:sp>
      <p:sp>
        <p:nvSpPr>
          <p:cNvPr id="10" name="Oval 9"/>
          <p:cNvSpPr/>
          <p:nvPr/>
        </p:nvSpPr>
        <p:spPr>
          <a:xfrm>
            <a:off x="3566160" y="173736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463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  <a:latin typeface="Microsoft YaHei"/>
              </a:defRPr>
            </a:pPr>
            <a:r>
              <a:t>✅ FinAgent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AI自主推理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488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从被动查数据到AI主动推送</a:t>
            </a:r>
            <a:br/>
            <a:r>
              <a:t>智能分析替代人工操作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❌ 竞品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人工查询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063240"/>
            <a:ext cx="10515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063240"/>
            <a:ext cx="54864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vs 通用AI助手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566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ChatGPT / 文心一言</a:t>
            </a:r>
          </a:p>
        </p:txBody>
      </p:sp>
      <p:sp>
        <p:nvSpPr>
          <p:cNvPr id="20" name="Oval 19"/>
          <p:cNvSpPr/>
          <p:nvPr/>
        </p:nvSpPr>
        <p:spPr>
          <a:xfrm>
            <a:off x="3566160" y="3429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1546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✅ FinAgent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429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金融专业+合规内嵌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840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金融领域深度定制</a:t>
            </a:r>
            <a:br/>
            <a:r>
              <a:t>合规规则引擎全程保障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154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❌ 竞品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429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通用对话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754880"/>
            <a:ext cx="10515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754880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892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vs 单点工具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单一分析软件</a:t>
            </a:r>
          </a:p>
        </p:txBody>
      </p:sp>
      <p:sp>
        <p:nvSpPr>
          <p:cNvPr id="30" name="Oval 29"/>
          <p:cNvSpPr/>
          <p:nvPr/>
        </p:nvSpPr>
        <p:spPr>
          <a:xfrm>
            <a:off x="3566160" y="51206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846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✅ FinAgent Pro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120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6智能体协同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32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全链路覆盖从分析到报告</a:t>
            </a:r>
            <a:br/>
            <a:r>
              <a:t>多智能体协商避免偏见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846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❌ 竞品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单一功能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86000" y="5486400"/>
            <a:ext cx="7589520" cy="914400"/>
          </a:xfrm>
          <a:prstGeom prst="roundRect">
            <a:avLst/>
          </a:prstGeom>
          <a:solidFill>
            <a:srgbClr val="14223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0" y="5577840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Microsoft YaHei"/>
              </a:defRPr>
            </a:pPr>
            <a:r>
              <a:t>💡 核心壁垒：AI自主推理 × 金融专业深度 × 合规内嵌 × 多智能体协同 —— 四位一体，难以复制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团队与规划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发展路线图与融资需求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20240"/>
            <a:ext cx="9144000" cy="3657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178308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325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B82F6"/>
                </a:solidFill>
                <a:latin typeface="Microsoft YaHei"/>
              </a:defRPr>
            </a:pPr>
            <a:r>
              <a:t>M1-3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377440"/>
            <a:ext cx="292608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377440"/>
            <a:ext cx="2926080" cy="457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MVP上线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926080"/>
            <a:ext cx="1828800" cy="32004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种子用户1000+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核心智能体开发完成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749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MVP版本上线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种子用户获取1000+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0" y="1783080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325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6B6D4"/>
                </a:solidFill>
                <a:latin typeface="Microsoft YaHei"/>
              </a:defRPr>
            </a:pPr>
            <a:r>
              <a:t>M4-6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377440"/>
            <a:ext cx="292608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377440"/>
            <a:ext cx="2926080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机构版发布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926080"/>
            <a:ext cx="1828800" cy="3200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10-20家付费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机构版功能完善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合规模块上线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10-20家机构付费</a:t>
            </a:r>
          </a:p>
        </p:txBody>
      </p:sp>
      <p:sp>
        <p:nvSpPr>
          <p:cNvPr id="25" name="Oval 24"/>
          <p:cNvSpPr/>
          <p:nvPr/>
        </p:nvSpPr>
        <p:spPr>
          <a:xfrm>
            <a:off x="8869680" y="178308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1325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M7-12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2377440"/>
            <a:ext cx="292608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0" y="2377440"/>
            <a:ext cx="292608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企业版发布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926080"/>
            <a:ext cx="1828800" cy="3200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3-5家大客户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企业版私有化部署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749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3-5家大客户签约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YaHei"/>
              </a:defRPr>
            </a:pPr>
            <a:r>
              <a:t>• 营收突破5000万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846320"/>
            <a:ext cx="5029200" cy="16459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20" y="4983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💰 融资需求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394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天使轮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500万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943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MVP开发 + 种子用户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5394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Pre-A轮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Microsoft YaHei"/>
              </a:defRPr>
            </a:pPr>
            <a:r>
              <a:t>2000万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5943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机构版 + 市场拓展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4846320"/>
            <a:ext cx="502920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4983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Microsoft YaHei"/>
              </a:defRPr>
            </a:pPr>
            <a:r>
              <a:t>🎯 愿景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5394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icrosoft YaHei"/>
              </a:defRPr>
            </a:pPr>
            <a:r>
              <a:t>让每一位金融从业者都拥有AI智能体团队</a:t>
            </a:r>
            <a:br/>
            <a:r>
              <a:t>从被动响应到主动智能，重新定义金融服务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